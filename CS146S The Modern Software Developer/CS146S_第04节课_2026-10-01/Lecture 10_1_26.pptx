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skills.md" TargetMode="External"/><Relationship Id="rId3" Type="http://schemas.openxmlformats.org/officeDocument/2006/relationships/hyperlink" Target="https://github.com/mattpocock/skills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8e38f890bfebb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8e38f890bfebb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38e38f890bfebbe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38e38f890bfebbe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38e38f890bfebbe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38e38f890bfebbe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c3ca004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c3ca004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8e38f890bfebbe6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8e38f890bfebbe6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Separate connector for each LLM -&gt; API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8e38f890bfebbe6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38e38f890bfebbe6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c3ca004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c3ca004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c3ca004c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c3ca004c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d0488dfac779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cd0488dfac77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2217f216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2217f216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Load tools on demand, filter data before it reaches the model, and execute complex logic in a simple step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2217f216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2217f216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Load tools on demand, filter data before it reaches the odel, and execute complex logic in a simple step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e36a845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e36a845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employee simply connects their MCP client to the MCP server portal, and the portal immediately reveals every internal and third-party MCP servers they are authorized to use.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Beyond this, our MCP server portals provide centralized logging, consistent policy enforcement and data loss prevention guardrails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ddf7c09f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ddf7c09f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https://agentskills.io/home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ddf7c09f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ddf7c09f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 a </a:t>
            </a:r>
            <a:r>
              <a:rPr lang="en" u="sng">
                <a:solidFill>
                  <a:schemeClr val="hlink"/>
                </a:solidFill>
                <a:hlinkClick r:id="rId2"/>
              </a:rPr>
              <a:t>skills.md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Show example of gws agent skills: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https://github.com/mattpocock/skills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e0e21ae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e0e21ae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11" Type="http://schemas.openxmlformats.org/officeDocument/2006/relationships/image" Target="../media/image5.png"/><Relationship Id="rId10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11" Type="http://schemas.openxmlformats.org/officeDocument/2006/relationships/image" Target="../media/image5.png"/><Relationship Id="rId10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1" Type="http://schemas.openxmlformats.org/officeDocument/2006/relationships/image" Target="../media/image6.png"/><Relationship Id="rId10" Type="http://schemas.openxmlformats.org/officeDocument/2006/relationships/image" Target="../media/image17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nthropics/skills/tree/main/skill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OSS Partner assignments out tonight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 slop gets a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Proposals due tonight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Ashley Jepson (Factory) giving a workshop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MCP, Tool-calling, and Beyond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have vast (but static) world knowledge that only updates when we retrain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build fully autonomous systems we need robust ways to feed dynamic data in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</a:t>
            </a:r>
            <a:r>
              <a:rPr lang="en"/>
              <a:t>odel </a:t>
            </a:r>
            <a:r>
              <a:rPr b="1" lang="en"/>
              <a:t>C</a:t>
            </a:r>
            <a:r>
              <a:rPr lang="en"/>
              <a:t>ontext </a:t>
            </a:r>
            <a:r>
              <a:rPr b="1" lang="en"/>
              <a:t>P</a:t>
            </a:r>
            <a:r>
              <a:rPr lang="en"/>
              <a:t>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Open protocol that allows systems to provide context to AI models in a manner generalizable across integrations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 English: standard format for exposing tools to LLMs</a:t>
            </a:r>
            <a:endParaRPr sz="1800"/>
          </a:p>
        </p:txBody>
      </p:sp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MCP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Does away with the need to build M x N connectors from LLM host/agent to underlying tool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Don’t need to reimplement auth, error handling, rate-limiting, etc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Enforces consistent output format using JSON-RPC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Integrating with tools goes from M x N </a:t>
            </a:r>
            <a:r>
              <a:rPr lang="en" sz="1950">
                <a:solidFill>
                  <a:schemeClr val="dk1"/>
                </a:solidFill>
              </a:rPr>
              <a:t>→</a:t>
            </a:r>
            <a:r>
              <a:rPr lang="en" sz="1600"/>
              <a:t>M + N connectors</a:t>
            </a:r>
            <a:endParaRPr sz="1600"/>
          </a:p>
        </p:txBody>
      </p:sp>
      <p:sp>
        <p:nvSpPr>
          <p:cNvPr id="97" name="Google Shape;97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6" name="Google Shape;106;p19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9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9"/>
          <p:cNvCxnSpPr/>
          <p:nvPr/>
        </p:nvCxnSpPr>
        <p:spPr>
          <a:xfrm flipH="1" rot="10800000">
            <a:off x="2999675" y="1057844"/>
            <a:ext cx="22164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9"/>
          <p:cNvCxnSpPr/>
          <p:nvPr/>
        </p:nvCxnSpPr>
        <p:spPr>
          <a:xfrm flipH="1">
            <a:off x="2974550" y="1235400"/>
            <a:ext cx="2249700" cy="12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Originally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9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9"/>
          <p:cNvCxnSpPr/>
          <p:nvPr/>
        </p:nvCxnSpPr>
        <p:spPr>
          <a:xfrm>
            <a:off x="3043577" y="3028047"/>
            <a:ext cx="2132100" cy="10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9"/>
          <p:cNvCxnSpPr/>
          <p:nvPr/>
        </p:nvCxnSpPr>
        <p:spPr>
          <a:xfrm rot="10800000">
            <a:off x="3018375" y="2875550"/>
            <a:ext cx="2100900" cy="10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0" name="Google Shape;120;p19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9"/>
          <p:cNvCxnSpPr/>
          <p:nvPr/>
        </p:nvCxnSpPr>
        <p:spPr>
          <a:xfrm>
            <a:off x="3010262" y="40625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/>
          <p:nvPr/>
        </p:nvCxnSpPr>
        <p:spPr>
          <a:xfrm rot="10800000">
            <a:off x="2984983" y="39100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3" name="Google Shape;123;p19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/>
          <p:cNvCxnSpPr/>
          <p:nvPr/>
        </p:nvCxnSpPr>
        <p:spPr>
          <a:xfrm>
            <a:off x="3011278" y="27671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9"/>
          <p:cNvCxnSpPr/>
          <p:nvPr/>
        </p:nvCxnSpPr>
        <p:spPr>
          <a:xfrm rot="10800000">
            <a:off x="2986000" y="26146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9"/>
          <p:cNvCxnSpPr/>
          <p:nvPr/>
        </p:nvCxnSpPr>
        <p:spPr>
          <a:xfrm>
            <a:off x="3010262" y="1616074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 rot="10800000">
            <a:off x="2984983" y="1463575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3033469" y="1920874"/>
            <a:ext cx="2113500" cy="5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9"/>
          <p:cNvCxnSpPr/>
          <p:nvPr/>
        </p:nvCxnSpPr>
        <p:spPr>
          <a:xfrm rot="10800000">
            <a:off x="3008200" y="1768350"/>
            <a:ext cx="21540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/>
          <p:nvPr/>
        </p:nvCxnSpPr>
        <p:spPr>
          <a:xfrm>
            <a:off x="3046089" y="1828525"/>
            <a:ext cx="2154000" cy="16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9"/>
          <p:cNvCxnSpPr/>
          <p:nvPr/>
        </p:nvCxnSpPr>
        <p:spPr>
          <a:xfrm rot="10800000">
            <a:off x="3020850" y="1676050"/>
            <a:ext cx="2171100" cy="16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9"/>
          <p:cNvCxnSpPr/>
          <p:nvPr/>
        </p:nvCxnSpPr>
        <p:spPr>
          <a:xfrm flipH="1" rot="10800000">
            <a:off x="2994113" y="3011974"/>
            <a:ext cx="2189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9"/>
          <p:cNvCxnSpPr/>
          <p:nvPr/>
        </p:nvCxnSpPr>
        <p:spPr>
          <a:xfrm flipH="1">
            <a:off x="2968700" y="2858400"/>
            <a:ext cx="22071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9"/>
          <p:cNvCxnSpPr/>
          <p:nvPr/>
        </p:nvCxnSpPr>
        <p:spPr>
          <a:xfrm flipH="1" rot="10800000">
            <a:off x="2977963" y="1865150"/>
            <a:ext cx="2189700" cy="17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9"/>
          <p:cNvCxnSpPr/>
          <p:nvPr/>
        </p:nvCxnSpPr>
        <p:spPr>
          <a:xfrm flipH="1">
            <a:off x="2952550" y="1703725"/>
            <a:ext cx="2207100" cy="17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43" name="Google Shape;143;p20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0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with MCP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20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3603363" y="2193413"/>
            <a:ext cx="1064700" cy="1227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3798588" y="2584163"/>
            <a:ext cx="79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" name="Google Shape;157;p20"/>
          <p:cNvCxnSpPr/>
          <p:nvPr/>
        </p:nvCxnSpPr>
        <p:spPr>
          <a:xfrm>
            <a:off x="2722025" y="1837575"/>
            <a:ext cx="570900" cy="5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0"/>
          <p:cNvCxnSpPr/>
          <p:nvPr/>
        </p:nvCxnSpPr>
        <p:spPr>
          <a:xfrm flipH="1" rot="10800000">
            <a:off x="2722025" y="3137775"/>
            <a:ext cx="604800" cy="6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0"/>
          <p:cNvCxnSpPr/>
          <p:nvPr/>
        </p:nvCxnSpPr>
        <p:spPr>
          <a:xfrm>
            <a:off x="2790725" y="2739200"/>
            <a:ext cx="48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0"/>
          <p:cNvCxnSpPr/>
          <p:nvPr/>
        </p:nvCxnSpPr>
        <p:spPr>
          <a:xfrm flipH="1">
            <a:off x="4810175" y="1298775"/>
            <a:ext cx="676800" cy="11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0"/>
          <p:cNvCxnSpPr/>
          <p:nvPr/>
        </p:nvCxnSpPr>
        <p:spPr>
          <a:xfrm rot="10800000">
            <a:off x="4810325" y="3080450"/>
            <a:ext cx="597900" cy="10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0"/>
          <p:cNvCxnSpPr/>
          <p:nvPr/>
        </p:nvCxnSpPr>
        <p:spPr>
          <a:xfrm rot="10800000">
            <a:off x="4843000" y="2747775"/>
            <a:ext cx="56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A Bit Deeper</a:t>
            </a:r>
            <a:endParaRPr/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Host</a:t>
            </a:r>
            <a:r>
              <a:rPr lang="en"/>
              <a:t>: Cursor, Claude Desktop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Client</a:t>
            </a:r>
            <a:r>
              <a:rPr lang="en"/>
              <a:t>: Library embedded on host (stateful session per server)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Server</a:t>
            </a:r>
            <a:r>
              <a:rPr lang="en"/>
              <a:t>: Lightweight wrapper in front of a tool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Tool</a:t>
            </a:r>
            <a:r>
              <a:rPr lang="en"/>
              <a:t>: Callable function (could be data source, 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 calls tools/list to MCP server (what can you do?)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returns JSON describing each tool (name, summary, JSON schema)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 injects that JSON into model’s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prompt triggers model, emitting a structured tool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server executes and conversation resumes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provides stdio and streamable HTTP transport layer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24" y="1865153"/>
            <a:ext cx="510112" cy="5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24" y="2375266"/>
            <a:ext cx="510111" cy="51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1394484"/>
            <a:ext cx="399045" cy="39904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2973350" y="1226300"/>
            <a:ext cx="5805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9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100" y="1854148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2857014" y="914150"/>
            <a:ext cx="696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client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2"/>
          <p:cNvSpPr/>
          <p:nvPr/>
        </p:nvSpPr>
        <p:spPr>
          <a:xfrm flipH="1">
            <a:off x="1434600" y="1196778"/>
            <a:ext cx="1125000" cy="5811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502225" y="1243653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Summarize my emails from Jack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5872900" y="1226300"/>
            <a:ext cx="8406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537" y="1339001"/>
            <a:ext cx="466650" cy="3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10800000">
            <a:off x="6067526" y="1835423"/>
            <a:ext cx="466648" cy="55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00" y="2500775"/>
            <a:ext cx="466650" cy="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5919877" y="914150"/>
            <a:ext cx="80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server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699" y="1280588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1936452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2484820"/>
            <a:ext cx="389325" cy="3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2"/>
          <p:cNvCxnSpPr/>
          <p:nvPr/>
        </p:nvCxnSpPr>
        <p:spPr>
          <a:xfrm>
            <a:off x="6939300" y="1433350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2"/>
          <p:cNvCxnSpPr/>
          <p:nvPr/>
        </p:nvCxnSpPr>
        <p:spPr>
          <a:xfrm rot="10800000">
            <a:off x="6939300" y="1539826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6916075" y="20927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2"/>
          <p:cNvCxnSpPr/>
          <p:nvPr/>
        </p:nvCxnSpPr>
        <p:spPr>
          <a:xfrm rot="10800000">
            <a:off x="6916075" y="219923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2"/>
          <p:cNvCxnSpPr/>
          <p:nvPr/>
        </p:nvCxnSpPr>
        <p:spPr>
          <a:xfrm>
            <a:off x="6927700" y="264568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2"/>
          <p:cNvCxnSpPr/>
          <p:nvPr/>
        </p:nvCxnSpPr>
        <p:spPr>
          <a:xfrm rot="10800000">
            <a:off x="6927700" y="27521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9" name="Google Shape;199;p22" title="Screenshot 2025-09-04 at 10.41.08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35805" y="3467125"/>
            <a:ext cx="655746" cy="63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2"/>
          <p:cNvCxnSpPr/>
          <p:nvPr/>
        </p:nvCxnSpPr>
        <p:spPr>
          <a:xfrm>
            <a:off x="1970325" y="1977459"/>
            <a:ext cx="7347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2"/>
          <p:cNvSpPr txBox="1"/>
          <p:nvPr/>
        </p:nvSpPr>
        <p:spPr>
          <a:xfrm>
            <a:off x="2238200" y="1701947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2016250" y="1935773"/>
            <a:ext cx="696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Ask query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22"/>
          <p:cNvCxnSpPr/>
          <p:nvPr/>
        </p:nvCxnSpPr>
        <p:spPr>
          <a:xfrm>
            <a:off x="3722925" y="1398475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2"/>
          <p:cNvSpPr txBox="1"/>
          <p:nvPr/>
        </p:nvSpPr>
        <p:spPr>
          <a:xfrm>
            <a:off x="4600400" y="1122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454649" y="1463091"/>
            <a:ext cx="696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Get tools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" name="Google Shape;206;p22"/>
          <p:cNvCxnSpPr/>
          <p:nvPr/>
        </p:nvCxnSpPr>
        <p:spPr>
          <a:xfrm rot="10800000">
            <a:off x="3699283" y="1489643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2"/>
          <p:cNvCxnSpPr/>
          <p:nvPr/>
        </p:nvCxnSpPr>
        <p:spPr>
          <a:xfrm rot="10800000">
            <a:off x="3676661" y="2706572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2"/>
          <p:cNvCxnSpPr/>
          <p:nvPr/>
        </p:nvCxnSpPr>
        <p:spPr>
          <a:xfrm>
            <a:off x="3202799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2"/>
          <p:cNvCxnSpPr/>
          <p:nvPr/>
        </p:nvCxnSpPr>
        <p:spPr>
          <a:xfrm rot="10800000">
            <a:off x="3324583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2"/>
          <p:cNvSpPr txBox="1"/>
          <p:nvPr/>
        </p:nvSpPr>
        <p:spPr>
          <a:xfrm>
            <a:off x="2954956" y="3027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3387850" y="3032675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query and pick tool with params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>
            <a:off x="3669007" y="2607750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2"/>
          <p:cNvSpPr txBox="1"/>
          <p:nvPr/>
        </p:nvSpPr>
        <p:spPr>
          <a:xfrm>
            <a:off x="4600400" y="2265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3851928" y="2683283"/>
            <a:ext cx="1922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Call function for tool and get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" name="Google Shape;215;p22"/>
          <p:cNvCxnSpPr/>
          <p:nvPr/>
        </p:nvCxnSpPr>
        <p:spPr>
          <a:xfrm rot="10800000">
            <a:off x="1970402" y="2435484"/>
            <a:ext cx="7194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22"/>
          <p:cNvSpPr txBox="1"/>
          <p:nvPr/>
        </p:nvSpPr>
        <p:spPr>
          <a:xfrm>
            <a:off x="1947025" y="2414201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230321" y="2142442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design a good MCP server (Option 1)</a:t>
            </a:r>
            <a:endParaRPr/>
          </a:p>
        </p:txBody>
      </p:sp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is not a REST API wrapper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 many small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Large, complex contexts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Agents spend too much time orchestrating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 for outcomes not operations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send_payment(user_email)</a:t>
            </a:r>
            <a:r>
              <a:rPr lang="en"/>
              <a:t> NOT </a:t>
            </a:r>
            <a:r>
              <a:rPr i="1" lang="en"/>
              <a:t>get_users(user_id)</a:t>
            </a:r>
            <a:r>
              <a:rPr lang="en"/>
              <a:t> → </a:t>
            </a:r>
            <a:r>
              <a:rPr i="1" lang="en"/>
              <a:t>list_account(user_email)</a:t>
            </a:r>
            <a:r>
              <a:rPr lang="en"/>
              <a:t> → </a:t>
            </a:r>
            <a:r>
              <a:rPr i="1" lang="en"/>
              <a:t>send_payment(account_id)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Explicit arguments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nested dict inputs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Instructions are context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Docstrings, error messages, etc are prompts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 tools for discovery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Service-prefixed tool names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design a good MCP server (Option 2)</a:t>
            </a:r>
            <a:endParaRPr/>
          </a:p>
        </p:txBody>
      </p:sp>
      <p:sp>
        <p:nvSpPr>
          <p:cNvPr id="231" name="Google Shape;231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# of MCP </a:t>
            </a:r>
            <a:r>
              <a:rPr lang="en"/>
              <a:t>servers</a:t>
            </a:r>
            <a:r>
              <a:rPr lang="en"/>
              <a:t> explode, only expose two tools: </a:t>
            </a:r>
            <a:r>
              <a:rPr i="1" lang="en"/>
              <a:t>search</a:t>
            </a:r>
            <a:r>
              <a:rPr lang="en"/>
              <a:t> and </a:t>
            </a:r>
            <a:r>
              <a:rPr i="1" lang="en"/>
              <a:t>execute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 calls </a:t>
            </a:r>
            <a:r>
              <a:rPr i="1" lang="en"/>
              <a:t>search</a:t>
            </a:r>
            <a:r>
              <a:rPr lang="en"/>
              <a:t> to find relevant tools and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Execute </a:t>
            </a:r>
            <a:r>
              <a:rPr lang="en"/>
              <a:t>generates deterministic code to perform an operation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Massive context reduction and approach is agnostic of how many MCP servers there 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90+% token reduction</a:t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</a:t>
            </a:r>
            <a:r>
              <a:rPr lang="en"/>
              <a:t>w to design a good MCP server (Option 2)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1985550" y="917150"/>
            <a:ext cx="517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Find a Jira ticket and update with info from Google drive</a:t>
            </a:r>
            <a:endParaRPr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2" name="Google Shape;242;p25" title="Screenshot 2026-06-22 at 7.32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998" y="1378100"/>
            <a:ext cx="4881895" cy="11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title="Screenshot 2026-06-22 at 7.32.5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962" y="2856225"/>
            <a:ext cx="3618079" cy="182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MCP Architecture Design</a:t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51" name="Google Shape;251;p26" title="Screenshot 2026-06-22 at 2.06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026" y="1288750"/>
            <a:ext cx="6079848" cy="30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 standard for dynamically loaded agent capabilities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Domain-specific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Combine code and prompts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Loaded by agent as needed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Use cases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Document authoring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Powerpoint creation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Data analysis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 u="sng">
                <a:solidFill>
                  <a:schemeClr val="hlink"/>
                </a:solidFill>
                <a:hlinkClick r:id="rId3"/>
              </a:rPr>
              <a:t>…and more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69" name="Google Shape;269;p28" title="Screenshot 2026-01-24 at 6.0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250" y="1139725"/>
            <a:ext cx="5503494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vs MCP vs Skills</a:t>
            </a: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HTTP/REST/GraphQL service interfaces exposed by app for developers to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You call or an SDK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You decide auth, retries, paginations, input validation,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Tool definitions exposed by a server so an LLM agent can invoke them in a standardized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</a:t>
            </a:r>
            <a:r>
              <a:rPr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model/agent runtime (as “tool calls”), not a human developer writing bespoke integrations each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Main mechanism for interacting with external resources, data,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Reusable task packages / procedures that teach an agent how to do a job, often by orchestrating multiple tools/endpoints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Agent or agent framework as higher level capability it can reach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Workflow abstraction - “here’s the repeatable way to complete X.”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