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laude.md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x.com/bcherny/status/2007179852047335529?s=20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laude.md" TargetMode="External"/><Relationship Id="rId3" Type="http://schemas.openxmlformats.org/officeDocument/2006/relationships/hyperlink" Target="https://x.com/bcherny/status/2007179850139000872?s=20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8e38f890bfebb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8e38f890bfeb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38f890bfebbe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38f890bfebbe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8aec0a86415878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8aec0a86415878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6715fc2d5e86283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6715fc2d5e86283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38e38f890bfebb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38e38f890bfebb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715fc2d5e8628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6715fc2d5e8628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See examples of all of these IRL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715fc2d5e86283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715fc2d5e86283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Same principles apply to a </a:t>
            </a:r>
            <a:r>
              <a:rPr lang="en" u="sng">
                <a:solidFill>
                  <a:schemeClr val="hlink"/>
                </a:solidFill>
                <a:hlinkClick r:id="rId2"/>
              </a:rPr>
              <a:t>CLAUDE.md</a:t>
            </a:r>
            <a:r>
              <a:rPr lang="en"/>
              <a:t>, etc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Examples</a:t>
            </a:r>
            <a:endParaRPr/>
          </a:p>
          <a:p>
            <a:pPr indent="-298450" lvl="1" marL="13716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https://github.com/vercel/next.js/blob/canary/AGENTS.md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Notes about loading order (CLAUDE.md follows root -&gt; nearest .md file in order so most directly relevant instructions are processed last by LLM)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Custom services or team directories have different conventions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715fc2d5e86283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6715fc2d5e8628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Supported in claude code / cursor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Examples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https://x.com/bcherny/status/2007179852047335529?s=20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Talk about ponytail hooks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715fc2d5e86283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6715fc2d5e86283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a sample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Ship-it command in claude code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Show “deslop” command from Cursor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715fc2d5e86283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6715fc2d5e86283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Compare to </a:t>
            </a:r>
            <a:r>
              <a:rPr lang="en" u="sng">
                <a:solidFill>
                  <a:schemeClr val="hlink"/>
                </a:solidFill>
                <a:hlinkClick r:id="rId2"/>
              </a:rPr>
              <a:t>Claude.md</a:t>
            </a:r>
            <a:r>
              <a:rPr lang="en"/>
              <a:t> files which are more about anchoring behavior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Examples: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https://x.com/bcherny/status/2007179850139000872?s=20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715fc2d5e86283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6715fc2d5e86283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28cead33f42585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28cead33f42585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48aec0a86415878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48aec0a86415878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agents.md" TargetMode="External"/><Relationship Id="rId4" Type="http://schemas.openxmlformats.org/officeDocument/2006/relationships/hyperlink" Target="http://api-gateway.m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atlassian.com/blog/announcements/remote-mcp-server" TargetMode="External"/><Relationship Id="rId4" Type="http://schemas.openxmlformats.org/officeDocument/2006/relationships/hyperlink" Target="https://linear.app/docs/mcp" TargetMode="External"/><Relationship Id="rId11" Type="http://schemas.openxmlformats.org/officeDocument/2006/relationships/hyperlink" Target="https://arize.com/docs/phoenix/integrations/phoenix-mcp-server" TargetMode="External"/><Relationship Id="rId10" Type="http://schemas.openxmlformats.org/officeDocument/2006/relationships/hyperlink" Target="https://github.com/upstash/context7" TargetMode="External"/><Relationship Id="rId9" Type="http://schemas.openxmlformats.org/officeDocument/2006/relationships/hyperlink" Target="https://awslabs.github.io/mcp/servers/redshift-mcp-server" TargetMode="External"/><Relationship Id="rId5" Type="http://schemas.openxmlformats.org/officeDocument/2006/relationships/hyperlink" Target="https://developers.notion.com/guides/mcp/mcp" TargetMode="External"/><Relationship Id="rId6" Type="http://schemas.openxmlformats.org/officeDocument/2006/relationships/hyperlink" Target="https://www.atlassian.com/blog/announcements/remote-mcp-server" TargetMode="External"/><Relationship Id="rId7" Type="http://schemas.openxmlformats.org/officeDocument/2006/relationships/hyperlink" Target="https://docs.datadoghq.com/bits_ai/mcp_server/" TargetMode="External"/><Relationship Id="rId8" Type="http://schemas.openxmlformats.org/officeDocument/2006/relationships/hyperlink" Target="https://docs.sentry.io/product/sentry-mcp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tech spec due Thursday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OSS contribution due Sunday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 - </a:t>
            </a:r>
            <a:r>
              <a:rPr lang="en"/>
              <a:t>STLC 111 (all Thursday lectures moving forward)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Boris Cherny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486" y="2365825"/>
            <a:ext cx="2886925" cy="19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vs MCP vs Skills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HTTP/REST/GraphQL service interfaces exposed by app for developers to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You call or an SDK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You decide auth, retries, paginations, input validation,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Tool definitions exposed by a server so an LLM agent can invoke them in a standardized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</a:t>
            </a:r>
            <a:r>
              <a:rPr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model/agent runtime (as “tool calls”), not a human developer writing bespoke integrations each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Main mechanism for interacting with external resources, data,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Reusable task packages / procedures that teach an agent how to do a job, often by orchestrating multiple tools/endpoints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Agent or agent framework as higher level capability it can reach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Workflow abstraction - “here’s the repeatable way to complete X.”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MCP Perks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Seamless auth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Versioning and updates are easy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Portability across clients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Native sandboxing of capabilities for remote MCP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1963450" y="2084100"/>
            <a:ext cx="52170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Customizing Your Agent Setup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Achieving maximum productivity with coding agents requires taking control of your 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many mechanisms available to us for customization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for customizing agents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behavior files (Claude.md/AGENTS.md)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Hooks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Subagents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an optimal AGENTS.md</a:t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README for agent</a:t>
            </a:r>
            <a:endParaRPr sz="1665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Structure</a:t>
            </a:r>
            <a:endParaRPr sz="1665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Project overview (map of your codebase)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Build and test commands (</a:t>
            </a:r>
            <a:r>
              <a:rPr i="1" lang="en" sz="1300"/>
              <a:t>use maven instead of gradle</a:t>
            </a:r>
            <a:r>
              <a:rPr lang="en" sz="1300"/>
              <a:t>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Code style guidelines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Testing instructions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Security considerations</a:t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Language or stack-specific gotchas</a:t>
            </a:r>
            <a:r>
              <a:rPr lang="en" sz="1600"/>
              <a:t> (</a:t>
            </a:r>
            <a:r>
              <a:rPr i="1" lang="en" sz="1600"/>
              <a:t>React 18 with Typescript, Vite</a:t>
            </a:r>
            <a:r>
              <a:rPr lang="en" sz="1600"/>
              <a:t> </a:t>
            </a:r>
            <a:r>
              <a:rPr lang="en" sz="1600" u="sng"/>
              <a:t>NOT</a:t>
            </a:r>
            <a:r>
              <a:rPr lang="en" sz="1600"/>
              <a:t> </a:t>
            </a:r>
            <a:r>
              <a:rPr i="1" lang="en" sz="1600"/>
              <a:t>React</a:t>
            </a:r>
            <a:r>
              <a:rPr lang="en" sz="1600"/>
              <a:t>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Make instructions as universally applicable as possible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Avoid code snippets as they become outdated quickly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 mindful of length (&lt;300 lines)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Large repos should use nested configuration files with the root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AGENTS.md</a:t>
            </a:r>
            <a:r>
              <a:rPr lang="en" sz="1600"/>
              <a:t> as a router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n" sz="1600"/>
              <a:t>For more details about API gateway design, refer to docs/</a:t>
            </a:r>
            <a:r>
              <a:rPr i="1" lang="en" sz="1600" u="sng">
                <a:solidFill>
                  <a:schemeClr val="hlink"/>
                </a:solidFill>
                <a:hlinkClick r:id="rId4"/>
              </a:rPr>
              <a:t>API-GATEWAY.md</a:t>
            </a:r>
            <a:endParaRPr i="1"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Hooks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Deterministic scripts that run on predefined event types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PreToolUse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PostToolUse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UserPromptSubmit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PreCompact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…and more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Use-cases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Sanitize 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sensitive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linter/formatter on generated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tests post completion of task</a:t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frequently-used prompts as files that the agent can execute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Running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a plan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Doing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Reviewing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Verifying outputs</a:t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Subagents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Runtime delegation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Purposes of a subagent is to</a:t>
            </a:r>
            <a:endParaRPr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Cleanly separate contexts for different work streams</a:t>
            </a:r>
            <a:endParaRPr sz="1600"/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600"/>
              <a:t>Only final message is returned</a:t>
            </a:r>
            <a:endParaRPr sz="1600"/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600"/>
              <a:t>Name, description, tool list loaded at session start</a:t>
            </a:r>
            <a:endParaRPr sz="1600"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Implicitly or explicitly invoked</a:t>
            </a:r>
            <a:endParaRPr sz="1600"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Automate most common workflows done</a:t>
            </a:r>
            <a:endParaRPr sz="1600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Use-cases</a:t>
            </a:r>
            <a:endParaRPr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Explore/understand your codebase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Simplify code after a change is made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Test your app end-to-end</a:t>
            </a:r>
            <a:endParaRPr sz="1700"/>
          </a:p>
          <a:p>
            <a:pPr indent="-32845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700"/>
              <a:t>Perfect for side tasks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Servers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Use-cases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Product management software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Jira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Linear</a:t>
            </a:r>
            <a:r>
              <a:rPr lang="en"/>
              <a:t> 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and update new issues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Pull issue information and kick off tasks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Documentation software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5"/>
              </a:rPr>
              <a:t>Notion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6"/>
              </a:rPr>
              <a:t>Confluence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issues from feature specs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Observability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7"/>
              </a:rPr>
              <a:t>Datadog</a:t>
            </a:r>
            <a:r>
              <a:rPr lang="en"/>
              <a:t> / </a:t>
            </a:r>
            <a:r>
              <a:rPr lang="en" u="sng">
                <a:solidFill>
                  <a:schemeClr val="hlink"/>
                </a:solidFill>
                <a:hlinkClick r:id="rId8"/>
              </a:rPr>
              <a:t>Sentry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Real-time, production debugging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Database	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9"/>
              </a:rPr>
              <a:t>Redshift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Debug data issues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Explore how data is organized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Technical documentation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10"/>
              </a:rPr>
              <a:t>Context7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Never use stale library definitions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Reduces likelihood of hallucinations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Experiment tracking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11"/>
              </a:rPr>
              <a:t>Arize</a:t>
            </a:r>
            <a:endParaRPr/>
          </a:p>
          <a:p>
            <a:pPr indent="-290830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Take the output of a test run and use it to suggest new experimental runs</a:t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context story</a:t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2684025" y="1328675"/>
            <a:ext cx="3207900" cy="630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3406425" y="1440900"/>
            <a:ext cx="176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2684025" y="1938275"/>
            <a:ext cx="3207900" cy="3963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3569175" y="1932873"/>
            <a:ext cx="1437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Memory.md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2684025" y="2319275"/>
            <a:ext cx="3207900" cy="396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786525" y="2313875"/>
            <a:ext cx="1002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Env info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2684025" y="2700275"/>
            <a:ext cx="3207900" cy="3963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569175" y="2694873"/>
            <a:ext cx="1437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tools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684025" y="3081275"/>
            <a:ext cx="3207900" cy="3963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3901875" y="3075875"/>
            <a:ext cx="7722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Skills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2684025" y="3462275"/>
            <a:ext cx="3207900" cy="3963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229378" y="3478075"/>
            <a:ext cx="2406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 (global)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2684025" y="3843275"/>
            <a:ext cx="3207900" cy="5727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261458" y="3933928"/>
            <a:ext cx="2406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 (local)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3667900" y="2255550"/>
            <a:ext cx="1808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